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9e22f15db54aec" /><Relationship Type="http://schemas.openxmlformats.org/officeDocument/2006/relationships/extended-properties" Target="/docProps/app.xml" Id="Rbfafbdd45269433c" /><Relationship Type="http://schemas.openxmlformats.org/officeDocument/2006/relationships/officeDocument" Target="/ppt/presentation.xml" Id="R7456d38e43eb4f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597cff836c4b80"/>
  </p:sldMasterIdLst>
  <p:notesMasterIdLst>
    <p:notesMasterId xmlns:r="http://schemas.openxmlformats.org/officeDocument/2006/relationships" r:id="R4862ce4094174642"/>
  </p:notesMasterIdLst>
  <p:sldIdLst>
    <p:sldId xmlns:r="http://schemas.openxmlformats.org/officeDocument/2006/relationships" id="256" r:id="R3c0c1d72a1f84ccd"/>
    <p:sldId xmlns:r="http://schemas.openxmlformats.org/officeDocument/2006/relationships" id="257" r:id="R0f98dff6b31a468e"/>
    <p:sldId xmlns:r="http://schemas.openxmlformats.org/officeDocument/2006/relationships" id="258" r:id="R56999026ca3d4f41"/>
    <p:sldId xmlns:r="http://schemas.openxmlformats.org/officeDocument/2006/relationships" id="259" r:id="Re9e5dc1ba1394de6"/>
    <p:sldId xmlns:r="http://schemas.openxmlformats.org/officeDocument/2006/relationships" id="260" r:id="Rfb46732e253c4f34"/>
    <p:sldId xmlns:r="http://schemas.openxmlformats.org/officeDocument/2006/relationships" id="261" r:id="Rb81db4b1aa8844ec"/>
    <p:sldId xmlns:r="http://schemas.openxmlformats.org/officeDocument/2006/relationships" id="262" r:id="Rb3027ddba0244a97"/>
    <p:sldId xmlns:r="http://schemas.openxmlformats.org/officeDocument/2006/relationships" id="263" r:id="R45699aa0709643d9"/>
    <p:sldId xmlns:r="http://schemas.openxmlformats.org/officeDocument/2006/relationships" id="264" r:id="Rf2a706028c6f4d69"/>
    <p:sldId xmlns:r="http://schemas.openxmlformats.org/officeDocument/2006/relationships" id="265" r:id="R9d199fb0357844eb"/>
    <p:sldId xmlns:r="http://schemas.openxmlformats.org/officeDocument/2006/relationships" id="266" r:id="R4d59ea32b5e94f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e8def32d8c4719" /><Relationship Type="http://schemas.openxmlformats.org/officeDocument/2006/relationships/slideMaster" Target="/ppt/slideMasters/slideMaster1.xml" Id="Ra5597cff836c4b80" /><Relationship Type="http://schemas.openxmlformats.org/officeDocument/2006/relationships/notesMaster" Target="/ppt/notesMasters/notesMaster1.xml" Id="R4862ce4094174642" /><Relationship Type="http://schemas.openxmlformats.org/officeDocument/2006/relationships/presProps" Target="/ppt/presProps.xml" Id="R99106f164a104ab4" /><Relationship Type="http://schemas.openxmlformats.org/officeDocument/2006/relationships/tableStyles" Target="/ppt/tableStyles.xml" Id="R3a78603405d94346" /><Relationship Type="http://schemas.openxmlformats.org/officeDocument/2006/relationships/slide" Target="/ppt/slides/slide1.xml" Id="R3c0c1d72a1f84ccd" /><Relationship Type="http://schemas.openxmlformats.org/officeDocument/2006/relationships/slide" Target="/ppt/slides/slide2.xml" Id="R0f98dff6b31a468e" /><Relationship Type="http://schemas.openxmlformats.org/officeDocument/2006/relationships/slide" Target="/ppt/slides/slide3.xml" Id="R56999026ca3d4f41" /><Relationship Type="http://schemas.openxmlformats.org/officeDocument/2006/relationships/slide" Target="/ppt/slides/slide4.xml" Id="Re9e5dc1ba1394de6" /><Relationship Type="http://schemas.openxmlformats.org/officeDocument/2006/relationships/slide" Target="/ppt/slides/slide5.xml" Id="Rfb46732e253c4f34" /><Relationship Type="http://schemas.openxmlformats.org/officeDocument/2006/relationships/slide" Target="/ppt/slides/slide6.xml" Id="Rb81db4b1aa8844ec" /><Relationship Type="http://schemas.openxmlformats.org/officeDocument/2006/relationships/slide" Target="/ppt/slides/slide7.xml" Id="Rb3027ddba0244a97" /><Relationship Type="http://schemas.openxmlformats.org/officeDocument/2006/relationships/slide" Target="/ppt/slides/slide8.xml" Id="R45699aa0709643d9" /><Relationship Type="http://schemas.openxmlformats.org/officeDocument/2006/relationships/slide" Target="/ppt/slides/slide9.xml" Id="Rf2a706028c6f4d69" /><Relationship Type="http://schemas.openxmlformats.org/officeDocument/2006/relationships/slide" Target="/ppt/slides/slide10.xml" Id="R9d199fb0357844eb" /><Relationship Type="http://schemas.openxmlformats.org/officeDocument/2006/relationships/slide" Target="/ppt/slides/slide11.xml" Id="R4d59ea32b5e94f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908531b94141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14cbffb1a34fe7" /><Relationship Type="http://schemas.openxmlformats.org/officeDocument/2006/relationships/notesMaster" Target="/ppt/notesMasters/notesMaster1.xml" Id="R3aca3b80da1c43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8acd70309d459c" /><Relationship Type="http://schemas.openxmlformats.org/officeDocument/2006/relationships/notesMaster" Target="/ppt/notesMasters/notesMaster1.xml" Id="Rda9d4a06eca541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8c5f13a7e34a7f" /><Relationship Type="http://schemas.openxmlformats.org/officeDocument/2006/relationships/notesMaster" Target="/ppt/notesMasters/notesMaster1.xml" Id="Re350d3b4bd6b46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5d693df9384faf" /><Relationship Type="http://schemas.openxmlformats.org/officeDocument/2006/relationships/notesMaster" Target="/ppt/notesMasters/notesMaster1.xml" Id="Radbce08d143842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58896ee46844e6" /><Relationship Type="http://schemas.openxmlformats.org/officeDocument/2006/relationships/notesMaster" Target="/ppt/notesMasters/notesMaster1.xml" Id="Rabd5e8231ea045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2e68aaf9684265" /><Relationship Type="http://schemas.openxmlformats.org/officeDocument/2006/relationships/notesMaster" Target="/ppt/notesMasters/notesMaster1.xml" Id="R49efcd3bd54b46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ad5a8bb47f4ec5" /><Relationship Type="http://schemas.openxmlformats.org/officeDocument/2006/relationships/notesMaster" Target="/ppt/notesMasters/notesMaster1.xml" Id="Rdd04ae01204340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e7817def5b4ce9" /><Relationship Type="http://schemas.openxmlformats.org/officeDocument/2006/relationships/notesMaster" Target="/ppt/notesMasters/notesMaster1.xml" Id="Rbfbfd498dc9d49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71b2ae014847b6" /><Relationship Type="http://schemas.openxmlformats.org/officeDocument/2006/relationships/notesMaster" Target="/ppt/notesMasters/notesMaster1.xml" Id="Rc86f56cba06446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ef72257ec64b35" /><Relationship Type="http://schemas.openxmlformats.org/officeDocument/2006/relationships/notesMaster" Target="/ppt/notesMasters/notesMaster1.xml" Id="R627b807449894dc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881655df0040e1" /><Relationship Type="http://schemas.openxmlformats.org/officeDocument/2006/relationships/notesMaster" Target="/ppt/notesMasters/notesMaster1.xml" Id="Rfdd2bc1e0e044c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0:00–0:15. Одно предложение: кому помогаем и какое действие улучшаем. Не тратьте время на общий рассказ о банкинге или ИИ. Заполнить название, команду и точную задачу из brief.</a:t>
            </a:r>
          </a:p>
          <a:p xmlns:a="http://schemas.openxmlformats.org/drawingml/2006/main">
            <a:r>
              <a:t>Источники структуры: PDF пользователя «How to Win the Datathon», с. 9–19, 23–29; https://datathon.com.kz/ru/schedule (16.10.2026). Бренд: оригинальный SVG https://datathon.com.kz/partners/forte.svg, цвет #A31551. Это самостоятельный шаблон команды, не официальный шаблон ForteBank. Поля в квадратных скобках намеренно оставлены для фактов после раскрытия кейса.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0:15–0:35. Только один подтверждённый вывод. Заменить поле нативным графиком или реальным артефактом анализа, сохранить оси, единицы и знаменатель. Большое число должно совпадать с графиком. Не использовать результаты data/synthetic.</a:t>
            </a:r>
          </a:p>
          <a:p xmlns:a="http://schemas.openxmlformats.org/drawingml/2006/main">
            <a:r>
              <a:t>Источники структуры: PDF пользователя «How to Win the Datathon», с. 9–19, 23–29; https://datathon.com.kz/ru/schedule (16.10.2026). Бренд: оригинальный SVG https://datathon.com.kz/partners/forte.svg, цвет #A31551. Это самостоятельный шаблон команды, не официальный шаблон ForteBank. Поля в квадратных скобках намеренно оставлены для фактов после раскрытия кейса.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0:35–1:00. Один вход, одно действие, результат и объяснение. Выбрать допустимый к показу обезличенный пример. Не ждать обучения. При сбое сразу открыть запись этого же пути. Для синтетического примера явно сказать и подписать, что он учебный.</a:t>
            </a:r>
          </a:p>
          <a:p xmlns:a="http://schemas.openxmlformats.org/drawingml/2006/main">
            <a:r>
              <a:t>Источники структуры: PDF пользователя «How to Win the Datathon», с. 9–19, 23–29; https://datathon.com.kz/ru/schedule (16.10.2026). Бренд: оригинальный SVG https://datathon.com.kz/partners/forte.svg, цвет #A31551. Это самостоятельный шаблон команды, не официальный шаблон ForteBank. Поля в квадратных скобках намеренно оставлены для фактов после раскрытия кейса.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1:00–1:30. Назвать официальную метрику, правило разбиения, размер holdout и простую точку сравнения. Различать проценты и процентные пункты. Таблица нативная, полностью редактируемая. Результаты и источники заменить фактами из зафиксированного прогона. Столбцы должны оцениваться на одних данных. При отсутствии ML заменить метрики аналитическими критериями из brief.</a:t>
            </a:r>
          </a:p>
          <a:p xmlns:a="http://schemas.openxmlformats.org/drawingml/2006/main">
            <a:r>
              <a:t>Источники структуры: PDF пользователя «How to Win the Datathon», с. 9–19, 23–29; https://datathon.com.kz/ru/schedule (16.10.2026). Бренд: оригинальный SVG https://datathon.com.kz/partners/forte.svg, цвет #A31551. Это самостоятельный шаблон команды, не официальный шаблон ForteBank. Поля в квадратных скобках намеренно оставлены для фактов после раскрытия кейса.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1:30–1:50. Показать последствие для пользователя: меньше ручных действий, выше полезность при том же лимите или другая цель из brief. Денежный эффект показывать только при известных ценах/объёмах; сценарную оценку назвать сценарием. Если расчёт неуместен, заменить формулу на прямое сравнение. Не объявлять offline-метрику доказанной экономией.</a:t>
            </a:r>
          </a:p>
          <a:p xmlns:a="http://schemas.openxmlformats.org/drawingml/2006/main">
            <a:r>
              <a:t>Источники структуры: PDF пользователя «How to Win the Datathon», с. 9–19, 23–29; https://datathon.com.kz/ru/schedule (16.10.2026). Бренд: оригинальный SVG https://datathon.com.kz/partners/forte.svg, цвет #A31551. Это самостоятельный шаблон команды, не официальный шаблон ForteBank. Поля в квадратных скобках намеренно оставлены для фактов после раскрытия кейса.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1:50–2:00. Повторить самый сильный доказанный вывод и назвать следующий проверяемый шаг. Дать ссылку на реально доступный артефакт. Не обещать неподтверждённый эффект.</a:t>
            </a:r>
          </a:p>
          <a:p xmlns:a="http://schemas.openxmlformats.org/drawingml/2006/main">
            <a:r>
              <a:t>Источники структуры: PDF пользователя «How to Win the Datathon», с. 9–19, 23–29; https://datathon.com.kz/ru/schedule (16.10.2026). Бренд: оригинальный SVG https://datathon.com.kz/partners/forte.svg, цвет #A31551. Это самостоятельный шаблон команды, не официальный шаблон ForteBank. Поля в квадратных скобках намеренно оставлены для фактов после раскрытия кейса.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Ответ о данных. Указать источник, момент решения и доступность полей. По запросу показать исходный аудит и состав split, не раскрывая персональные данные.</a:t>
            </a:r>
          </a:p>
          <a:p xmlns:a="http://schemas.openxmlformats.org/drawingml/2006/main">
            <a:r>
              <a:t>Источники структуры: PDF пользователя «How to Win the Datathon», с. 9–19, 23–29; https://datathon.com.kz/ru/schedule (16.10.2026). Бренд: оригинальный SVG https://datathon.com.kz/partners/forte.svg, цвет #A31551. Это самостоятельный шаблон команды, не официальный шаблон ForteBank. Поля в квадратных скобках намеренно оставлены для фактов после раскрытия кейса.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Объяснять механизм и вклад в результат. Если применён особый метод, указать первоисточник и что он исправил. Важность признаков не называть причинностью.</a:t>
            </a:r>
          </a:p>
          <a:p xmlns:a="http://schemas.openxmlformats.org/drawingml/2006/main">
            <a:r>
              <a:t>Источники структуры: PDF пользователя «How to Win the Datathon», с. 9–19, 23–29; https://datathon.com.kz/ru/schedule (16.10.2026). Бренд: оригинальный SVG https://datathon.com.kz/partners/forte.svg, цвет #A31551. Это самостоятельный шаблон команды, не официальный шаблон ForteBank. Поля в квадратных скобках намеренно оставлены для фактов после раскрытия кейса.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не официальная рубрика: заполнить после раскрытия. Строки добавить/удалить по заданию; при большом объёме продублировать слайд. Нельзя прятать обязательный пункт из-за нехватки места.</a:t>
            </a:r>
          </a:p>
          <a:p xmlns:a="http://schemas.openxmlformats.org/drawingml/2006/main">
            <a:r>
              <a:t>Источники структуры: PDF пользователя «How to Win the Datathon», с. 9–19, 23–29; https://datathon.com.kz/ru/schedule (16.10.2026). Бренд: оригинальный SVG https://datathon.com.kz/partners/forte.svg, цвет #A31551. Это самостоятельный шаблон команды, не официальный шаблон ForteBank. Поля в квадратных скобках намеренно оставлены для фактов после раскрытия кейса.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Отвечать честно. Ограничение, которое меняет смысл основного вывода, должно быть также кратко видно на основном слайде проверки. Для банковского действия с последствиями для человека обозначить необходимость контроля и пилота по условиям кейса.</a:t>
            </a:r>
          </a:p>
          <a:p xmlns:a="http://schemas.openxmlformats.org/drawingml/2006/main">
            <a:r>
              <a:t>Источники структуры: PDF пользователя «How to Win the Datathon», с. 9–19, 23–29; https://datathon.com.kz/ru/schedule (16.10.2026). Бренд: оригинальный SVG https://datathon.com.kz/partners/forte.svg, цвет #A31551. Это самостоятельный шаблон команды, не официальный шаблон ForteBank. Поля в квадратных скобках намеренно оставлены для фактов после раскрытия кейса.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Указывать фактических участников и реально отправленную версию. Строго разделённые роли не требуются. Ссылка должна открываться у жюри с нужными правами.</a:t>
            </a:r>
          </a:p>
          <a:p xmlns:a="http://schemas.openxmlformats.org/drawingml/2006/main">
            <a:r>
              <a:t>Источники структуры: PDF пользователя «How to Win the Datathon», с. 9–19, 23–29; https://datathon.com.kz/ru/schedule (16.10.2026). Бренд: оригинальный SVG https://datathon.com.kz/partners/forte.svg, цвет #A31551. Это самостоятельный шаблон команды, не официальный шаблон ForteBank. Поля в квадратных скобках намеренно оставлены для фактов после раскрытия кейса.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51dc6f9202473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90797b6af3482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70ef21864a40b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ee13cbfe7e42b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ec1153faa54ab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378b489efe4a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E758E6-7C67-45C8-8735-595FA3F9EE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651AEC9-B0EE-46F7-A0C3-9AF1AF734A8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1320C05-44C4-47A2-B3F0-29FDA8ADDE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C61D63-09B7-4D83-89F1-5E266FEAED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FDAD666-DB2A-413B-869E-0F661BF6A5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D0BA6A0-1D41-454C-A564-962EBE4876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3ADD70C-795F-472E-8CD7-90B7C293F3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C17CEA5-16C6-4BC7-9D52-4849E0BAF13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3D3AEE-68E5-4CC8-95B9-049216B578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E048BE5-7642-496B-A0AA-7BECC0E934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104eabc64d4fb5" /><Relationship Type="http://schemas.openxmlformats.org/officeDocument/2006/relationships/slideLayout" Target="/ppt/slideLayouts/slideLayout1.xml" Id="R96d41e56dd7846ef" /><Relationship Type="http://schemas.openxmlformats.org/officeDocument/2006/relationships/slideLayout" Target="/ppt/slideLayouts/slideLayout2.xml" Id="R89c3b040fc12431c" /><Relationship Type="http://schemas.openxmlformats.org/officeDocument/2006/relationships/slideLayout" Target="/ppt/slideLayouts/slideLayout3.xml" Id="Rb80128c6938043d1" /><Relationship Type="http://schemas.openxmlformats.org/officeDocument/2006/relationships/slideLayout" Target="/ppt/slideLayouts/slideLayout4.xml" Id="R5d311657f6104814" /><Relationship Type="http://schemas.openxmlformats.org/officeDocument/2006/relationships/slideLayout" Target="/ppt/slideLayouts/slideLayout5.xml" Id="Ra1a5726ae2e0477f" /><Relationship Type="http://schemas.openxmlformats.org/officeDocument/2006/relationships/slideLayout" Target="/ppt/slideLayouts/slideLayout6.xml" Id="R6023b6b70d4a46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d41e56dd7846ef"/>
    <p:sldLayoutId xmlns:r="http://schemas.openxmlformats.org/officeDocument/2006/relationships" id="2147483650" r:id="R89c3b040fc12431c"/>
    <p:sldLayoutId xmlns:r="http://schemas.openxmlformats.org/officeDocument/2006/relationships" id="2147483651" r:id="Rb80128c6938043d1"/>
    <p:sldLayoutId xmlns:r="http://schemas.openxmlformats.org/officeDocument/2006/relationships" id="2147483652" r:id="R5d311657f6104814"/>
    <p:sldLayoutId xmlns:r="http://schemas.openxmlformats.org/officeDocument/2006/relationships" id="2147483653" r:id="Ra1a5726ae2e0477f"/>
    <p:sldLayoutId xmlns:r="http://schemas.openxmlformats.org/officeDocument/2006/relationships" id="2147483654" r:id="R6023b6b70d4a46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802718a77141e0" /><Relationship Type="http://schemas.openxmlformats.org/officeDocument/2006/relationships/image" Target="/ppt/media/image.png" Id="Rc7ed42091c044095" /><Relationship Type="http://schemas.openxmlformats.org/officeDocument/2006/relationships/image" Target="/ppt/media/image.svg" Id="R77122d13d9374917" /><Relationship Type="http://schemas.openxmlformats.org/officeDocument/2006/relationships/notesSlide" Target="/ppt/notesSlides/notesSlide1.xml" Id="Rd2553ab22ccb47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5179201be94d97" /><Relationship Type="http://schemas.openxmlformats.org/officeDocument/2006/relationships/image" Target="/ppt/media/image2.png" Id="Rea3f29c94e2e4258" /><Relationship Type="http://schemas.openxmlformats.org/officeDocument/2006/relationships/image" Target="/ppt/media/image2.svg" Id="R55b193bcf0e54237" /><Relationship Type="http://schemas.openxmlformats.org/officeDocument/2006/relationships/notesSlide" Target="/ppt/notesSlides/notesSlide2.xml" Id="Rb5035c8a4d6c42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a3271636c24b91" /><Relationship Type="http://schemas.openxmlformats.org/officeDocument/2006/relationships/image" Target="/ppt/media/image3.png" Id="Rca352f8cad004f3d" /><Relationship Type="http://schemas.openxmlformats.org/officeDocument/2006/relationships/image" Target="/ppt/media/image3.svg" Id="Ra571f3dd767a4642" /><Relationship Type="http://schemas.openxmlformats.org/officeDocument/2006/relationships/notesSlide" Target="/ppt/notesSlides/notesSlide3.xml" Id="Rd44b6b240a7943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87b24914214648" /><Relationship Type="http://schemas.openxmlformats.org/officeDocument/2006/relationships/image" Target="/ppt/media/image4.png" Id="R24413b2d40ab4f89" /><Relationship Type="http://schemas.openxmlformats.org/officeDocument/2006/relationships/image" Target="/ppt/media/image4.svg" Id="Rd8bf2b68665b4666" /><Relationship Type="http://schemas.openxmlformats.org/officeDocument/2006/relationships/notesSlide" Target="/ppt/notesSlides/notesSlide4.xml" Id="Rbb19f518531341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76a83c907545f0" /><Relationship Type="http://schemas.openxmlformats.org/officeDocument/2006/relationships/image" Target="/ppt/media/image5.png" Id="R8d7eefd07ef74629" /><Relationship Type="http://schemas.openxmlformats.org/officeDocument/2006/relationships/image" Target="/ppt/media/image5.svg" Id="R354c4f236e104157" /><Relationship Type="http://schemas.openxmlformats.org/officeDocument/2006/relationships/notesSlide" Target="/ppt/notesSlides/notesSlide5.xml" Id="R1b561471469d44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4280ddd3444f03" /><Relationship Type="http://schemas.openxmlformats.org/officeDocument/2006/relationships/image" Target="/ppt/media/image6.png" Id="R8f4c2a542e034971" /><Relationship Type="http://schemas.openxmlformats.org/officeDocument/2006/relationships/image" Target="/ppt/media/image6.svg" Id="R6ac3a41b95804676" /><Relationship Type="http://schemas.openxmlformats.org/officeDocument/2006/relationships/notesSlide" Target="/ppt/notesSlides/notesSlide6.xml" Id="R3425cac6ca7f44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6a715fd9784987" /><Relationship Type="http://schemas.openxmlformats.org/officeDocument/2006/relationships/image" Target="/ppt/media/image7.png" Id="Rabb86aa453b9466a" /><Relationship Type="http://schemas.openxmlformats.org/officeDocument/2006/relationships/image" Target="/ppt/media/image7.svg" Id="R197a89b7a8f14691" /><Relationship Type="http://schemas.openxmlformats.org/officeDocument/2006/relationships/notesSlide" Target="/ppt/notesSlides/notesSlide7.xml" Id="Rfd020920160f42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e9bf7f586e4f8b" /><Relationship Type="http://schemas.openxmlformats.org/officeDocument/2006/relationships/image" Target="/ppt/media/image8.png" Id="R6f67da4036bd4a99" /><Relationship Type="http://schemas.openxmlformats.org/officeDocument/2006/relationships/image" Target="/ppt/media/image8.svg" Id="R205b9ffe352d42ac" /><Relationship Type="http://schemas.openxmlformats.org/officeDocument/2006/relationships/notesSlide" Target="/ppt/notesSlides/notesSlide8.xml" Id="Rf4576956de0948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342833d8b24ef1" /><Relationship Type="http://schemas.openxmlformats.org/officeDocument/2006/relationships/image" Target="/ppt/media/image9.png" Id="R45147177408f4359" /><Relationship Type="http://schemas.openxmlformats.org/officeDocument/2006/relationships/image" Target="/ppt/media/image9.svg" Id="R76a6935fd828406a" /><Relationship Type="http://schemas.openxmlformats.org/officeDocument/2006/relationships/notesSlide" Target="/ppt/notesSlides/notesSlide9.xml" Id="R4ef372226e7140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8d253c2125486c" /><Relationship Type="http://schemas.openxmlformats.org/officeDocument/2006/relationships/image" Target="/ppt/media/image10.png" Id="Rc48bdffd296a4ddc" /><Relationship Type="http://schemas.openxmlformats.org/officeDocument/2006/relationships/image" Target="/ppt/media/image10.svg" Id="R9826be0a357746c9" /><Relationship Type="http://schemas.openxmlformats.org/officeDocument/2006/relationships/notesSlide" Target="/ppt/notesSlides/notesSlide10.xml" Id="Rbd3f50c423804f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b6378c441c4772" /><Relationship Type="http://schemas.openxmlformats.org/officeDocument/2006/relationships/image" Target="/ppt/media/image11.png" Id="Rd56a2b1246564981" /><Relationship Type="http://schemas.openxmlformats.org/officeDocument/2006/relationships/image" Target="/ppt/media/image11.svg" Id="R9447c460e15d4d1e" /><Relationship Type="http://schemas.openxmlformats.org/officeDocument/2006/relationships/notesSlide" Target="/ppt/notesSlides/notesSlide11.xml" Id="R245a0a96093144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670D1B-C307-4986-9551-1D0A8920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Datathon ’26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33450-6B30-460E-82AB-94211F61B2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ed42091c044095">
            <a:extLst>
              <a:ext uri="{96DAC541-7B7A-43D3-8B79-37D633B846F1}">
                <asvg:svgBlip xmlns:asvg="http://schemas.microsoft.com/office/drawing/2016/SVG/main" r:embed="R77122d13d937491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20350" y="361950"/>
            <a:ext cx="1009650" cy="30003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AEAD5-DC63-4AEC-996D-A541E8C9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61A88-0F00-4537-85CC-5ECA6C2F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0096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[Название</a:t>
            </a:r>
          </a:p>
          <a:p xmlns:a="http://schemas.openxmlformats.org/drawingml/2006/main">
            <a:pPr>
              <a:defRPr sz="570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решения]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DB23E-624E-48D9-AE19-E548135E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41C25"/>
                </a:solidFill>
                <a:latin typeface="Arial"/>
                <a:ea typeface="Arial"/>
                <a:cs typeface="Arial"/>
              </a:rPr>
              <a:t>[Какое решение принимает пользователь</a:t>
            </a:r>
          </a:p>
          <a:p xmlns:a="http://schemas.openxmlformats.org/drawingml/2006/main">
            <a:pPr>
              <a:defRPr sz="2550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41C25"/>
                </a:solidFill>
                <a:latin typeface="Arial"/>
                <a:ea typeface="Arial"/>
                <a:cs typeface="Arial"/>
              </a:rPr>
              <a:t>с нашей помощью]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2BE9F6-87C1-499A-9AB8-43BEC320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483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[Команда] · 17–18 октября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13921116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381A2-ECBC-4F3F-8DF7-5B7EDC25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Datathon ’26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C1C54-3878-40B5-A4A5-CAE1C6B800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f29c94e2e4258">
            <a:extLst>
              <a:ext uri="{96DAC541-7B7A-43D3-8B79-37D633B846F1}">
                <asvg:svgBlip xmlns:asvg="http://schemas.microsoft.com/office/drawing/2016/SVG/main" r:embed="R55b193bcf0e5423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20350" y="361950"/>
            <a:ext cx="1009650" cy="30003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449C7-19E6-4650-98B9-E5C44A3C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241C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41C25"/>
                </a:solidFill>
                <a:latin typeface="Arial"/>
                <a:ea typeface="Arial"/>
                <a:cs typeface="Arial"/>
              </a:rPr>
              <a:t>[Главная находка]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DBAC4-6367-4BF2-8E5D-C66057C1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94735-9BB6-4015-9680-0E9ECE2F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3905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9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[Значение]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8F66F-7ECA-40AF-A227-E54F8372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3714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1C25"/>
                </a:solidFill>
                <a:latin typeface="Arial"/>
                <a:ea typeface="Arial"/>
                <a:cs typeface="Arial"/>
              </a:rPr>
              <a:t>[Метрика, единицы</a:t>
            </a:r>
          </a:p>
          <a:p xmlns:a="http://schemas.openxmlformats.org/drawingml/2006/main">
            <a:pPr>
              <a:defRPr sz="2100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1C25"/>
                </a:solidFill>
                <a:latin typeface="Arial"/>
                <a:ea typeface="Arial"/>
                <a:cs typeface="Arial"/>
              </a:rPr>
              <a:t>и база сравнения]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FAD6FE-3C7A-4FF7-B5C2-670E6C2A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33650"/>
            <a:ext cx="63246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F6"/>
          </a:solidFill>
          <a:ln xmlns:a="http://schemas.openxmlformats.org/drawingml/2006/main" w="9525">
            <a:solidFill>
              <a:srgbClr val="E4DCE1"/>
            </a:solidFill>
          </a:ln>
        </p:spPr>
        <p:txBody>
          <a:bodyPr xmlns:a="http://schemas.openxmlformats.org/drawingml/2006/main" lIns="228600" tIns="228600" rIns="228600" bIns="2286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726A72"/>
                </a:solidFill>
                <a:latin typeface="Arial"/>
                <a:ea typeface="Arial"/>
                <a:cs typeface="Arial"/>
              </a:rPr>
              <a:t>[График из анализа]</a:t>
            </a:r>
          </a:p>
          <a:p xmlns:a="http://schemas.openxmlformats.org/drawingml/2006/main">
            <a:pPr algn="ctr">
              <a:defRPr sz="195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726A72"/>
                </a:solidFill>
                <a:latin typeface="Arial"/>
                <a:ea typeface="Arial"/>
                <a:cs typeface="Arial"/>
              </a:rPr>
              <a:t>[оси · единицы · период · n]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D0355-ED3B-4542-A71E-97594C9E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97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[Источник / фильтр / размер выборки]</a:t>
            </a:r>
          </a:p>
        </p:txBody>
      </p:sp>
    </p:spTree>
    <p:extLst>
      <p:ext uri="{BB962C8B-B14F-4D97-AF65-F5344CB8AC3E}">
        <p14:creationId xmlns:p14="http://schemas.microsoft.com/office/powerpoint/2010/main" val="17269347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068FCC-A211-455C-94B8-FC192A89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Datathon ’26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AFE429-B2B2-433C-9E6B-CE14FA4ED4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352f8cad004f3d">
            <a:extLst>
              <a:ext uri="{96DAC541-7B7A-43D3-8B79-37D633B846F1}">
                <asvg:svgBlip xmlns:asvg="http://schemas.microsoft.com/office/drawing/2016/SVG/main" r:embed="Ra571f3dd767a464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20350" y="361950"/>
            <a:ext cx="1009650" cy="30003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D5C1F6-E893-4C75-8538-DCE7E93A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241C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41C25"/>
                </a:solidFill>
                <a:latin typeface="Arial"/>
                <a:ea typeface="Arial"/>
                <a:cs typeface="Arial"/>
              </a:rPr>
              <a:t>Работающий сценарий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3E2D0-048F-414F-8F79-5699F87F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9E3277-1F5F-4E2D-BB0B-0701F30C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70485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F6"/>
          </a:solidFill>
          <a:ln xmlns:a="http://schemas.openxmlformats.org/drawingml/2006/main" w="9525">
            <a:solidFill>
              <a:srgbClr val="E4DCE1"/>
            </a:solidFill>
          </a:ln>
        </p:spPr>
        <p:txBody>
          <a:bodyPr xmlns:a="http://schemas.openxmlformats.org/drawingml/2006/main" lIns="228600" tIns="228600" rIns="228600" bIns="2286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726A72"/>
                </a:solidFill>
                <a:latin typeface="Arial"/>
                <a:ea typeface="Arial"/>
                <a:cs typeface="Arial"/>
              </a:rPr>
              <a:t>[Скриншот одного рабочего сценария]</a:t>
            </a:r>
          </a:p>
          <a:p xmlns:a="http://schemas.openxmlformats.org/drawingml/2006/main">
            <a:pPr algn="ctr">
              <a:defRPr sz="195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726A72"/>
                </a:solidFill>
                <a:latin typeface="Arial"/>
                <a:ea typeface="Arial"/>
                <a:cs typeface="Arial"/>
              </a:rPr>
              <a:t>[или переход к локальному демо]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E38DE3-D8F9-414C-9443-3A89985C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0985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Вход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B2C21-043E-4370-A8D7-D7ECE4A9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28950"/>
            <a:ext cx="2895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1C25"/>
                </a:solidFill>
                <a:latin typeface="Arial"/>
                <a:ea typeface="Arial"/>
                <a:cs typeface="Arial"/>
              </a:rPr>
              <a:t>[Что подаёт пользователь]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987E2D-1D71-4C61-82E8-72727225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5765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F02BF2-2C55-4BD7-AB2E-3571A11E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76750"/>
            <a:ext cx="2895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1C25"/>
                </a:solidFill>
                <a:latin typeface="Arial"/>
                <a:ea typeface="Arial"/>
                <a:cs typeface="Arial"/>
              </a:rPr>
              <a:t>[Что он получает</a:t>
            </a:r>
          </a:p>
          <a:p xmlns:a="http://schemas.openxmlformats.org/drawingml/2006/main">
            <a:pPr>
              <a:defRPr sz="1950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1C25"/>
                </a:solidFill>
                <a:latin typeface="Arial"/>
                <a:ea typeface="Arial"/>
                <a:cs typeface="Arial"/>
              </a:rPr>
              <a:t>и что делает дальше]</a:t>
            </a:r>
          </a:p>
        </p:txBody>
      </p:sp>
    </p:spTree>
    <p:extLst>
      <p:ext uri="{BB962C8B-B14F-4D97-AF65-F5344CB8AC3E}">
        <p14:creationId xmlns:p14="http://schemas.microsoft.com/office/powerpoint/2010/main" val="12612927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60CE9-230F-4EBC-9D84-ACE0ACB0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Datathon ’26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EAB14-D8AE-41A4-A230-371D8FE9C5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413b2d40ab4f89">
            <a:extLst>
              <a:ext uri="{96DAC541-7B7A-43D3-8B79-37D633B846F1}">
                <asvg:svgBlip xmlns:asvg="http://schemas.microsoft.com/office/drawing/2016/SVG/main" r:embed="Rd8bf2b68665b466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20350" y="361950"/>
            <a:ext cx="1009650" cy="30003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52A93-9D16-45D0-8E2F-82E7CE6C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241C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41C25"/>
                </a:solidFill>
                <a:latin typeface="Arial"/>
                <a:ea typeface="Arial"/>
                <a:cs typeface="Arial"/>
              </a:rPr>
              <a:t>Проверка качества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00C12-79EC-4E25-A711-29316751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74335E-5F5E-436B-B2ED-EB31886EEC90}"/>
              </a:ext>
            </a:extLst>
          </p:cNvPr>
          <p:cNvGraphicFramePr/>
          <p:nvPr/>
        </p:nvGraphicFramePr>
        <p:xfrm>
          <a:off xmlns:a="http://schemas.openxmlformats.org/drawingml/2006/main" x="762000" y="2514600"/>
          <a:ext xmlns:a="http://schemas.openxmlformats.org/drawingml/2006/main" cx="10668000" cy="2705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2762250"/>
                <a:gridCol w="3238500"/>
              </a:tblGrid>
              <a:tr h="676275">
                <a:tc>
                  <a:txBody>
                    <a:bodyPr lIns="152400" tIns="152400" rIns="152400" bIns="1524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Метрика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4DCE1"/>
                      </a:solidFill>
                      <a:prstDash val="solid"/>
                    </a:lnL>
                    <a:lnR w="9525">
                      <a:solidFill>
                        <a:srgbClr val="E4DCE1"/>
                      </a:solidFill>
                      <a:prstDash val="solid"/>
                    </a:lnR>
                    <a:lnT w="9525">
                      <a:solidFill>
                        <a:srgbClr val="E4DCE1"/>
                      </a:solidFill>
                      <a:prstDash val="solid"/>
                    </a:lnT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A31551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4DCE1"/>
                      </a:solidFill>
                      <a:prstDash val="solid"/>
                    </a:lnR>
                    <a:lnT w="9525">
                      <a:solidFill>
                        <a:srgbClr val="E4DCE1"/>
                      </a:solidFill>
                      <a:prstDash val="solid"/>
                    </a:lnT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A31551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Наше решение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4DCE1"/>
                      </a:solidFill>
                      <a:prstDash val="solid"/>
                    </a:lnR>
                    <a:lnT w="9525">
                      <a:solidFill>
                        <a:srgbClr val="E4DCE1"/>
                      </a:solidFill>
                      <a:prstDash val="solid"/>
                    </a:lnT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A31551"/>
                    </a:solidFill>
                  </a:tcPr>
                </a:tc>
              </a:tr>
              <a:tr h="676275">
                <a:tc>
                  <a:txBody>
                    <a:bodyPr lIns="152400" tIns="152400" rIns="152400" bIns="152400"/>
                    <a:lstStyle/>
                    <a:p>
                      <a:r>
                        <a:rPr sz="1800" b="0">
                          <a:solidFill>
                            <a:srgbClr val="241C25"/>
                          </a:solidFill>
                          <a:latin typeface="Arial"/>
                          <a:ea typeface="Arial"/>
                          <a:cs typeface="Arial"/>
                        </a:rPr>
                        <a:t>[Основная · единицы]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4DCE1"/>
                      </a:solidFill>
                      <a:prstDash val="solid"/>
                    </a:lnL>
                    <a:lnR w="9525">
                      <a:solidFill>
                        <a:srgbClr val="E4DCE1"/>
                      </a:solidFill>
                      <a:prstDash val="solid"/>
                    </a:lnR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00" b="0">
                          <a:solidFill>
                            <a:srgbClr val="241C25"/>
                          </a:solidFill>
                          <a:latin typeface="Arial"/>
                          <a:ea typeface="Arial"/>
                          <a:cs typeface="Arial"/>
                        </a:rPr>
                        <a:t>[значение]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4DCE1"/>
                      </a:solidFill>
                      <a:prstDash val="solid"/>
                    </a:lnR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00" b="0">
                          <a:solidFill>
                            <a:srgbClr val="241C25"/>
                          </a:solidFill>
                          <a:latin typeface="Arial"/>
                          <a:ea typeface="Arial"/>
                          <a:cs typeface="Arial"/>
                        </a:rPr>
                        <a:t>[значение]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4DCE1"/>
                      </a:solidFill>
                      <a:prstDash val="solid"/>
                    </a:lnR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 lIns="152400" tIns="152400" rIns="152400" bIns="152400"/>
                    <a:lstStyle/>
                    <a:p>
                      <a:r>
                        <a:rPr sz="1800" b="0">
                          <a:solidFill>
                            <a:srgbClr val="241C25"/>
                          </a:solidFill>
                          <a:latin typeface="Arial"/>
                          <a:ea typeface="Arial"/>
                          <a:cs typeface="Arial"/>
                        </a:rPr>
                        <a:t>[Контрольная метрика]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4DCE1"/>
                      </a:solidFill>
                      <a:prstDash val="solid"/>
                    </a:lnL>
                    <a:lnR w="9525">
                      <a:solidFill>
                        <a:srgbClr val="E4DCE1"/>
                      </a:solidFill>
                      <a:prstDash val="solid"/>
                    </a:lnR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00" b="0">
                          <a:solidFill>
                            <a:srgbClr val="241C25"/>
                          </a:solidFill>
                          <a:latin typeface="Arial"/>
                          <a:ea typeface="Arial"/>
                          <a:cs typeface="Arial"/>
                        </a:rPr>
                        <a:t>[значение]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4DCE1"/>
                      </a:solidFill>
                      <a:prstDash val="solid"/>
                    </a:lnR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00" b="0">
                          <a:solidFill>
                            <a:srgbClr val="241C25"/>
                          </a:solidFill>
                          <a:latin typeface="Arial"/>
                          <a:ea typeface="Arial"/>
                          <a:cs typeface="Arial"/>
                        </a:rPr>
                        <a:t>[значение]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4DCE1"/>
                      </a:solidFill>
                      <a:prstDash val="solid"/>
                    </a:lnR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 lIns="152400" tIns="152400" rIns="152400" bIns="152400"/>
                    <a:lstStyle/>
                    <a:p>
                      <a:r>
                        <a:rPr sz="1800" b="0">
                          <a:solidFill>
                            <a:srgbClr val="241C25"/>
                          </a:solidFill>
                          <a:latin typeface="Arial"/>
                          <a:ea typeface="Arial"/>
                          <a:cs typeface="Arial"/>
                        </a:rPr>
                        <a:t>[Время / цена ошибки]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4DCE1"/>
                      </a:solidFill>
                      <a:prstDash val="solid"/>
                    </a:lnL>
                    <a:lnR w="9525">
                      <a:solidFill>
                        <a:srgbClr val="E4DCE1"/>
                      </a:solidFill>
                      <a:prstDash val="solid"/>
                    </a:lnR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00" b="0">
                          <a:solidFill>
                            <a:srgbClr val="241C25"/>
                          </a:solidFill>
                          <a:latin typeface="Arial"/>
                          <a:ea typeface="Arial"/>
                          <a:cs typeface="Arial"/>
                        </a:rPr>
                        <a:t>[значение]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4DCE1"/>
                      </a:solidFill>
                      <a:prstDash val="solid"/>
                    </a:lnR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00" b="0">
                          <a:solidFill>
                            <a:srgbClr val="241C25"/>
                          </a:solidFill>
                          <a:latin typeface="Arial"/>
                          <a:ea typeface="Arial"/>
                          <a:cs typeface="Arial"/>
                        </a:rPr>
                        <a:t>[значение]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4DCE1"/>
                      </a:solidFill>
                      <a:prstDash val="solid"/>
                    </a:lnR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58D33-2CF6-44AB-87D8-36A6B9FC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340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[Split · период · n]   [Порог выбран на validation]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B06CEE-C121-4CE6-BEE4-18DDC700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[Существенное ограничение проверки]</a:t>
            </a:r>
          </a:p>
        </p:txBody>
      </p:sp>
    </p:spTree>
    <p:extLst>
      <p:ext uri="{BB962C8B-B14F-4D97-AF65-F5344CB8AC3E}">
        <p14:creationId xmlns:p14="http://schemas.microsoft.com/office/powerpoint/2010/main" val="3405064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EFC9F4-88E1-4578-B31C-8EB26688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Datathon ’26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F203F-9971-45D5-AC4D-63208FE052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7eefd07ef74629">
            <a:extLst>
              <a:ext uri="{96DAC541-7B7A-43D3-8B79-37D633B846F1}">
                <asvg:svgBlip xmlns:asvg="http://schemas.microsoft.com/office/drawing/2016/SVG/main" r:embed="R354c4f236e10415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20350" y="361950"/>
            <a:ext cx="1009650" cy="30003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BBBA9-A0B9-4EA1-BB3C-113F7895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241C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41C25"/>
                </a:solidFill>
                <a:latin typeface="Arial"/>
                <a:ea typeface="Arial"/>
                <a:cs typeface="Arial"/>
              </a:rPr>
              <a:t>Польза для [пользователя]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7CB25-9EE1-4AF3-82B3-BC80066F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32F78-0DA0-49DD-AC1C-A48DC6B9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[Практический результат]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4FECF3-1C7A-4571-9D01-4784D66B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41C25"/>
                </a:solidFill>
                <a:latin typeface="Arial"/>
                <a:ea typeface="Arial"/>
                <a:cs typeface="Arial"/>
              </a:rPr>
              <a:t>[Действие]  ×  [объём]  ×  [эффект на случай]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133F5-24FA-481A-ABC4-CA2BFEE8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1C25"/>
                </a:solidFill>
                <a:latin typeface="Arial"/>
                <a:ea typeface="Arial"/>
                <a:cs typeface="Arial"/>
              </a:rPr>
              <a:t>[Измерено в эксперименте: …]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AC928F-BC6B-4894-9D6B-3E21431A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[Допущения для пилота: …]</a:t>
            </a:r>
          </a:p>
        </p:txBody>
      </p:sp>
    </p:spTree>
    <p:extLst>
      <p:ext uri="{BB962C8B-B14F-4D97-AF65-F5344CB8AC3E}">
        <p14:creationId xmlns:p14="http://schemas.microsoft.com/office/powerpoint/2010/main" val="3386100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29B972-CF87-4CA3-96AE-FBE27979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Datathon ’26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E09DB-501C-4B1C-B1CC-149CA50D69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4c2a542e034971">
            <a:extLst>
              <a:ext uri="{96DAC541-7B7A-43D3-8B79-37D633B846F1}">
                <asvg:svgBlip xmlns:asvg="http://schemas.microsoft.com/office/drawing/2016/SVG/main" r:embed="R6ac3a41b9580467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20350" y="361950"/>
            <a:ext cx="1009650" cy="30003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C4683D-2191-4CBB-9243-E71C9C84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58D84-B4CB-4462-989A-CC38A7F2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047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9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[Один вывод,</a:t>
            </a:r>
          </a:p>
          <a:p xmlns:a="http://schemas.openxmlformats.org/drawingml/2006/main">
            <a:pPr>
              <a:defRPr sz="49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который запомнят]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C2C4B-5CE3-4AFF-8620-3509AA87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1C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1C25"/>
                </a:solidFill>
                <a:latin typeface="Arial"/>
                <a:ea typeface="Arial"/>
                <a:cs typeface="Arial"/>
              </a:rPr>
              <a:t>Следующий шаг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D8B9F-5A4E-4A20-BFEB-DC077117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1009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1C25"/>
                </a:solidFill>
                <a:latin typeface="Arial"/>
                <a:ea typeface="Arial"/>
                <a:cs typeface="Arial"/>
              </a:rPr>
              <a:t>[Что проверим в пилоте и по какому критерию]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48CBB0-C0C8-491B-9537-A96D8778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102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[Команда · имена · ссылка на решение]</a:t>
            </a:r>
          </a:p>
        </p:txBody>
      </p:sp>
    </p:spTree>
    <p:extLst>
      <p:ext uri="{BB962C8B-B14F-4D97-AF65-F5344CB8AC3E}">
        <p14:creationId xmlns:p14="http://schemas.microsoft.com/office/powerpoint/2010/main" val="11704434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277F63-425B-4BCE-B263-F4A73BC6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Приложение · ответы на вопросы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B2896-FE5E-4B6D-B121-0E71CE2084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b86aa453b9466a">
            <a:extLst>
              <a:ext uri="{96DAC541-7B7A-43D3-8B79-37D633B846F1}">
                <asvg:svgBlip xmlns:asvg="http://schemas.microsoft.com/office/drawing/2016/SVG/main" r:embed="R197a89b7a8f1469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20350" y="361950"/>
            <a:ext cx="1009650" cy="30003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5515E-3329-478A-A04D-A8CE1AF4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241C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41C25"/>
                </a:solidFill>
                <a:latin typeface="Arial"/>
                <a:ea typeface="Arial"/>
                <a:cs typeface="Arial"/>
              </a:rPr>
              <a:t>Данные и границы выборки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DD1BA-905F-4D48-A872-B500C283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FC2169-7AA4-4799-9E63-59760AFA54EA}"/>
              </a:ext>
            </a:extLst>
          </p:cNvPr>
          <p:cNvGraphicFramePr/>
          <p:nvPr/>
        </p:nvGraphicFramePr>
        <p:xfrm>
          <a:off xmlns:a="http://schemas.openxmlformats.org/drawingml/2006/main" x="762000" y="2514600"/>
          <a:ext xmlns:a="http://schemas.openxmlformats.org/drawingml/2006/main" cx="10668000" cy="3105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6286500"/>
              </a:tblGrid>
              <a:tr h="621030">
                <a:tc>
                  <a:txBody>
                    <a:bodyPr lIns="152400" tIns="152400" rIns="152400" bIns="1524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Проверка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4DCE1"/>
                      </a:solidFill>
                      <a:prstDash val="solid"/>
                    </a:lnL>
                    <a:lnR w="9525">
                      <a:solidFill>
                        <a:srgbClr val="E4DCE1"/>
                      </a:solidFill>
                      <a:prstDash val="solid"/>
                    </a:lnR>
                    <a:lnT w="9525">
                      <a:solidFill>
                        <a:srgbClr val="E4DCE1"/>
                      </a:solidFill>
                      <a:prstDash val="solid"/>
                    </a:lnT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A31551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Зафиксированный результат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4DCE1"/>
                      </a:solidFill>
                      <a:prstDash val="solid"/>
                    </a:lnR>
                    <a:lnT w="9525">
                      <a:solidFill>
                        <a:srgbClr val="E4DCE1"/>
                      </a:solidFill>
                      <a:prstDash val="solid"/>
                    </a:lnT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A31551"/>
                    </a:solidFill>
                  </a:tcPr>
                </a:tc>
              </a:tr>
              <a:tr h="621030">
                <a:tc>
                  <a:txBody>
                    <a:bodyPr lIns="152400" tIns="152400" rIns="152400" bIns="152400"/>
                    <a:lstStyle/>
                    <a:p>
                      <a:r>
                        <a:rPr sz="1800" b="0">
                          <a:solidFill>
                            <a:srgbClr val="241C25"/>
                          </a:solidFill>
                          <a:latin typeface="Arial"/>
                          <a:ea typeface="Arial"/>
                          <a:cs typeface="Arial"/>
                        </a:rPr>
                        <a:t>Единица наблюдения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4DCE1"/>
                      </a:solidFill>
                      <a:prstDash val="solid"/>
                    </a:lnL>
                    <a:lnR w="9525">
                      <a:solidFill>
                        <a:srgbClr val="E4DCE1"/>
                      </a:solidFill>
                      <a:prstDash val="solid"/>
                    </a:lnR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00" b="0">
                          <a:solidFill>
                            <a:srgbClr val="241C25"/>
                          </a:solidFill>
                          <a:latin typeface="Arial"/>
                          <a:ea typeface="Arial"/>
                          <a:cs typeface="Arial"/>
                        </a:rPr>
                        <a:t>[клиент / событие / документ]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4DCE1"/>
                      </a:solidFill>
                      <a:prstDash val="solid"/>
                    </a:lnR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030">
                <a:tc>
                  <a:txBody>
                    <a:bodyPr lIns="152400" tIns="152400" rIns="152400" bIns="152400"/>
                    <a:lstStyle/>
                    <a:p>
                      <a:r>
                        <a:rPr sz="1800" b="0">
                          <a:solidFill>
                            <a:srgbClr val="241C25"/>
                          </a:solidFill>
                          <a:latin typeface="Arial"/>
                          <a:ea typeface="Arial"/>
                          <a:cs typeface="Arial"/>
                        </a:rPr>
                        <a:t>Объём и период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4DCE1"/>
                      </a:solidFill>
                      <a:prstDash val="solid"/>
                    </a:lnL>
                    <a:lnR w="9525">
                      <a:solidFill>
                        <a:srgbClr val="E4DCE1"/>
                      </a:solidFill>
                      <a:prstDash val="solid"/>
                    </a:lnR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00" b="0">
                          <a:solidFill>
                            <a:srgbClr val="241C25"/>
                          </a:solidFill>
                          <a:latin typeface="Arial"/>
                          <a:ea typeface="Arial"/>
                          <a:cs typeface="Arial"/>
                        </a:rPr>
                        <a:t>[n · даты · исключения]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4DCE1"/>
                      </a:solidFill>
                      <a:prstDash val="solid"/>
                    </a:lnR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030">
                <a:tc>
                  <a:txBody>
                    <a:bodyPr lIns="152400" tIns="152400" rIns="152400" bIns="152400"/>
                    <a:lstStyle/>
                    <a:p>
                      <a:r>
                        <a:rPr sz="1800" b="0">
                          <a:solidFill>
                            <a:srgbClr val="241C25"/>
                          </a:solidFill>
                          <a:latin typeface="Arial"/>
                          <a:ea typeface="Arial"/>
                          <a:cs typeface="Arial"/>
                        </a:rPr>
                        <a:t>Пропуски и дубли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4DCE1"/>
                      </a:solidFill>
                      <a:prstDash val="solid"/>
                    </a:lnL>
                    <a:lnR w="9525">
                      <a:solidFill>
                        <a:srgbClr val="E4DCE1"/>
                      </a:solidFill>
                      <a:prstDash val="solid"/>
                    </a:lnR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00" b="0">
                          <a:solidFill>
                            <a:srgbClr val="241C25"/>
                          </a:solidFill>
                          <a:latin typeface="Arial"/>
                          <a:ea typeface="Arial"/>
                          <a:cs typeface="Arial"/>
                        </a:rPr>
                        <a:t>[доля · обработка]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4DCE1"/>
                      </a:solidFill>
                      <a:prstDash val="solid"/>
                    </a:lnR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030">
                <a:tc>
                  <a:txBody>
                    <a:bodyPr lIns="152400" tIns="152400" rIns="152400" bIns="152400"/>
                    <a:lstStyle/>
                    <a:p>
                      <a:r>
                        <a:rPr sz="1800" b="0">
                          <a:solidFill>
                            <a:srgbClr val="241C25"/>
                          </a:solidFill>
                          <a:latin typeface="Arial"/>
                          <a:ea typeface="Arial"/>
                          <a:cs typeface="Arial"/>
                        </a:rPr>
                        <a:t>Разбиение и утечки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4DCE1"/>
                      </a:solidFill>
                      <a:prstDash val="solid"/>
                    </a:lnL>
                    <a:lnR w="9525">
                      <a:solidFill>
                        <a:srgbClr val="E4DCE1"/>
                      </a:solidFill>
                      <a:prstDash val="solid"/>
                    </a:lnR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00" b="0">
                          <a:solidFill>
                            <a:srgbClr val="241C25"/>
                          </a:solidFill>
                          <a:latin typeface="Arial"/>
                          <a:ea typeface="Arial"/>
                          <a:cs typeface="Arial"/>
                        </a:rPr>
                        <a:t>[правило · проверки]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4DCE1"/>
                      </a:solidFill>
                      <a:prstDash val="solid"/>
                    </a:lnR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92C804-D4D6-4F94-89A2-737A5B53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15025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[Происхождение данных и ограничения использования]</a:t>
            </a:r>
          </a:p>
        </p:txBody>
      </p:sp>
    </p:spTree>
    <p:extLst>
      <p:ext uri="{BB962C8B-B14F-4D97-AF65-F5344CB8AC3E}">
        <p14:creationId xmlns:p14="http://schemas.microsoft.com/office/powerpoint/2010/main" val="15722585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7FE8BF-D4E6-422F-8583-4D06BA8D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Приложение · ответы на вопросы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A06AA-651A-4361-ACC6-A42B3DFF5F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67da4036bd4a99">
            <a:extLst>
              <a:ext uri="{96DAC541-7B7A-43D3-8B79-37D633B846F1}">
                <asvg:svgBlip xmlns:asvg="http://schemas.microsoft.com/office/drawing/2016/SVG/main" r:embed="R205b9ffe352d42a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20350" y="361950"/>
            <a:ext cx="1009650" cy="30003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348EB-A783-4352-A098-3BB3D808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241C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41C25"/>
                </a:solidFill>
                <a:latin typeface="Arial"/>
                <a:ea typeface="Arial"/>
                <a:cs typeface="Arial"/>
              </a:rPr>
              <a:t>Как получен результат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12252-3D7B-4256-831C-82C074D2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D3F45-8D15-4172-89BA-2E5FE37A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F10909-91FE-43D1-9E0F-41A9F55B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66700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1C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41C25"/>
                </a:solidFill>
                <a:latin typeface="Arial"/>
                <a:ea typeface="Arial"/>
                <a:cs typeface="Arial"/>
              </a:rPr>
              <a:t>[Подготовка данных]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75C2D-0ECB-4637-A485-908C214D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[Что изменили и зачем]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811581-EBE1-47F1-9BA9-04893C81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EE65CA-DE39-410A-B5A0-69F55273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433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1C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41C25"/>
                </a:solidFill>
                <a:latin typeface="Arial"/>
                <a:ea typeface="Arial"/>
                <a:cs typeface="Arial"/>
              </a:rPr>
              <a:t>[Метод / правило / модель]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29224C-7244-4238-8AF3-714753E1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5148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[Какую ошибку baseline исправляет]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208818-CD2E-40A0-9D3D-87155F07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9408A3-7C85-46B8-B9B0-6ABF0DC8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21970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1C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41C25"/>
                </a:solidFill>
                <a:latin typeface="Arial"/>
                <a:ea typeface="Arial"/>
                <a:cs typeface="Arial"/>
              </a:rPr>
              <a:t>[Проверка вклада изменения]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2D97F2-DEC9-4141-8C0A-10A13F7E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912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[Ablation / сравнение при равных условиях]</a:t>
            </a:r>
          </a:p>
        </p:txBody>
      </p:sp>
    </p:spTree>
    <p:extLst>
      <p:ext uri="{BB962C8B-B14F-4D97-AF65-F5344CB8AC3E}">
        <p14:creationId xmlns:p14="http://schemas.microsoft.com/office/powerpoint/2010/main" val="18427271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5C646-00F9-4293-9ABA-ACCFDF91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Приложение · ответы на вопросы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5BCAF1-76B5-499A-A75A-8AD93C1D49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147177408f4359">
            <a:extLst>
              <a:ext uri="{96DAC541-7B7A-43D3-8B79-37D633B846F1}">
                <asvg:svgBlip xmlns:asvg="http://schemas.microsoft.com/office/drawing/2016/SVG/main" r:embed="R76a6935fd828406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20350" y="361950"/>
            <a:ext cx="1009650" cy="30003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4E50C-A770-4D61-A8CC-22903FAC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241C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41C25"/>
                </a:solidFill>
                <a:latin typeface="Arial"/>
                <a:ea typeface="Arial"/>
                <a:cs typeface="Arial"/>
              </a:rPr>
              <a:t>Покрытие задания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202E49-A7DD-489C-A7BE-A25F57F9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80A1A-49E8-4070-B864-674406DAEB80}"/>
              </a:ext>
            </a:extLst>
          </p:cNvPr>
          <p:cNvGraphicFramePr/>
          <p:nvPr/>
        </p:nvGraphicFramePr>
        <p:xfrm>
          <a:off xmlns:a="http://schemas.openxmlformats.org/drawingml/2006/main" x="762000" y="2609850"/>
          <a:ext xmlns:a="http://schemas.openxmlformats.org/drawingml/2006/main" cx="10668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38625"/>
                <a:gridCol w="3143250"/>
                <a:gridCol w="3286125"/>
              </a:tblGrid>
              <a:tr h="714375">
                <a:tc>
                  <a:txBody>
                    <a:bodyPr lIns="152400" tIns="152400" rIns="152400" bIns="1524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Пункт brief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4DCE1"/>
                      </a:solidFill>
                      <a:prstDash val="solid"/>
                    </a:lnL>
                    <a:lnR w="9525">
                      <a:solidFill>
                        <a:srgbClr val="E4DCE1"/>
                      </a:solidFill>
                      <a:prstDash val="solid"/>
                    </a:lnR>
                    <a:lnT w="9525">
                      <a:solidFill>
                        <a:srgbClr val="E4DCE1"/>
                      </a:solidFill>
                      <a:prstDash val="solid"/>
                    </a:lnT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A31551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Доказательство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4DCE1"/>
                      </a:solidFill>
                      <a:prstDash val="solid"/>
                    </a:lnR>
                    <a:lnT w="9525">
                      <a:solidFill>
                        <a:srgbClr val="E4DCE1"/>
                      </a:solidFill>
                      <a:prstDash val="solid"/>
                    </a:lnT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A31551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Где проверить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4DCE1"/>
                      </a:solidFill>
                      <a:prstDash val="solid"/>
                    </a:lnR>
                    <a:lnT w="9525">
                      <a:solidFill>
                        <a:srgbClr val="E4DCE1"/>
                      </a:solidFill>
                      <a:prstDash val="solid"/>
                    </a:lnT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A31551"/>
                    </a:solidFill>
                  </a:tcPr>
                </a:tc>
              </a:tr>
              <a:tr h="714375">
                <a:tc>
                  <a:txBody>
                    <a:bodyPr lIns="152400" tIns="152400" rIns="152400" bIns="152400"/>
                    <a:lstStyle/>
                    <a:p>
                      <a:r>
                        <a:rPr sz="1800" b="0">
                          <a:solidFill>
                            <a:srgbClr val="241C25"/>
                          </a:solidFill>
                          <a:latin typeface="Arial"/>
                          <a:ea typeface="Arial"/>
                          <a:cs typeface="Arial"/>
                        </a:rPr>
                        <a:t>[R01 · точный пункт]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4DCE1"/>
                      </a:solidFill>
                      <a:prstDash val="solid"/>
                    </a:lnL>
                    <a:lnR w="9525">
                      <a:solidFill>
                        <a:srgbClr val="E4DCE1"/>
                      </a:solidFill>
                      <a:prstDash val="solid"/>
                    </a:lnR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00" b="0">
                          <a:solidFill>
                            <a:srgbClr val="241C25"/>
                          </a:solidFill>
                          <a:latin typeface="Arial"/>
                          <a:ea typeface="Arial"/>
                          <a:cs typeface="Arial"/>
                        </a:rPr>
                        <a:t>[артефакт]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4DCE1"/>
                      </a:solidFill>
                      <a:prstDash val="solid"/>
                    </a:lnR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00" b="0">
                          <a:solidFill>
                            <a:srgbClr val="241C25"/>
                          </a:solidFill>
                          <a:latin typeface="Arial"/>
                          <a:ea typeface="Arial"/>
                          <a:cs typeface="Arial"/>
                        </a:rPr>
                        <a:t>[ссылка / файл]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4DCE1"/>
                      </a:solidFill>
                      <a:prstDash val="solid"/>
                    </a:lnR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152400" tIns="152400" rIns="152400" bIns="152400"/>
                    <a:lstStyle/>
                    <a:p>
                      <a:r>
                        <a:rPr sz="1800" b="0">
                          <a:solidFill>
                            <a:srgbClr val="241C25"/>
                          </a:solidFill>
                          <a:latin typeface="Arial"/>
                          <a:ea typeface="Arial"/>
                          <a:cs typeface="Arial"/>
                        </a:rPr>
                        <a:t>[R02 · точный пункт]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4DCE1"/>
                      </a:solidFill>
                      <a:prstDash val="solid"/>
                    </a:lnL>
                    <a:lnR w="9525">
                      <a:solidFill>
                        <a:srgbClr val="E4DCE1"/>
                      </a:solidFill>
                      <a:prstDash val="solid"/>
                    </a:lnR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00" b="0">
                          <a:solidFill>
                            <a:srgbClr val="241C25"/>
                          </a:solidFill>
                          <a:latin typeface="Arial"/>
                          <a:ea typeface="Arial"/>
                          <a:cs typeface="Arial"/>
                        </a:rPr>
                        <a:t>[артефакт]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4DCE1"/>
                      </a:solidFill>
                      <a:prstDash val="solid"/>
                    </a:lnR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00" b="0">
                          <a:solidFill>
                            <a:srgbClr val="241C25"/>
                          </a:solidFill>
                          <a:latin typeface="Arial"/>
                          <a:ea typeface="Arial"/>
                          <a:cs typeface="Arial"/>
                        </a:rPr>
                        <a:t>[ссылка / файл]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4DCE1"/>
                      </a:solidFill>
                      <a:prstDash val="solid"/>
                    </a:lnR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152400" tIns="152400" rIns="152400" bIns="152400"/>
                    <a:lstStyle/>
                    <a:p>
                      <a:r>
                        <a:rPr sz="1800" b="0">
                          <a:solidFill>
                            <a:srgbClr val="241C25"/>
                          </a:solidFill>
                          <a:latin typeface="Arial"/>
                          <a:ea typeface="Arial"/>
                          <a:cs typeface="Arial"/>
                        </a:rPr>
                        <a:t>[R03 · точный пункт]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4DCE1"/>
                      </a:solidFill>
                      <a:prstDash val="solid"/>
                    </a:lnL>
                    <a:lnR w="9525">
                      <a:solidFill>
                        <a:srgbClr val="E4DCE1"/>
                      </a:solidFill>
                      <a:prstDash val="solid"/>
                    </a:lnR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00" b="0">
                          <a:solidFill>
                            <a:srgbClr val="241C25"/>
                          </a:solidFill>
                          <a:latin typeface="Arial"/>
                          <a:ea typeface="Arial"/>
                          <a:cs typeface="Arial"/>
                        </a:rPr>
                        <a:t>[артефакт]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4DCE1"/>
                      </a:solidFill>
                      <a:prstDash val="solid"/>
                    </a:lnR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00" b="0">
                          <a:solidFill>
                            <a:srgbClr val="241C25"/>
                          </a:solidFill>
                          <a:latin typeface="Arial"/>
                          <a:ea typeface="Arial"/>
                          <a:cs typeface="Arial"/>
                        </a:rPr>
                        <a:t>[ссылка / файл]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4DCE1"/>
                      </a:solidFill>
                      <a:prstDash val="solid"/>
                    </a:lnR>
                    <a:lnB w="9525">
                      <a:solidFill>
                        <a:srgbClr val="E4DC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B004B-7BBA-4784-A081-61669AE1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[Добавьте все обязательные пункты официального brief]</a:t>
            </a:r>
          </a:p>
        </p:txBody>
      </p:sp>
    </p:spTree>
    <p:extLst>
      <p:ext uri="{BB962C8B-B14F-4D97-AF65-F5344CB8AC3E}">
        <p14:creationId xmlns:p14="http://schemas.microsoft.com/office/powerpoint/2010/main" val="6861596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EB1EF7-FAAA-45DB-81C2-2A215DF9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Приложение · ответы на вопросы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2D7F3A-16FF-475A-8952-D550C6E26C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bdffd296a4ddc">
            <a:extLst>
              <a:ext uri="{96DAC541-7B7A-43D3-8B79-37D633B846F1}">
                <asvg:svgBlip xmlns:asvg="http://schemas.microsoft.com/office/drawing/2016/SVG/main" r:embed="R9826be0a357746c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20350" y="361950"/>
            <a:ext cx="1009650" cy="30003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56B70-A888-4333-B4E4-CD69FDF1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241C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41C25"/>
                </a:solidFill>
                <a:latin typeface="Arial"/>
                <a:ea typeface="Arial"/>
                <a:cs typeface="Arial"/>
              </a:rPr>
              <a:t>Ограничения и проверка в пилоте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A3442-AE66-4F95-81FB-373DD2CF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A8B37-FEEF-47F6-B727-6B9BC04F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Где проверка слабее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33EDC-8A70-4817-99C7-5EDB15FA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476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1C25"/>
                </a:solidFill>
                <a:latin typeface="Arial"/>
                <a:ea typeface="Arial"/>
                <a:cs typeface="Arial"/>
              </a:rPr>
              <a:t>[Сегмент / период / редкий случай]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1C25"/>
                </a:solidFill>
                <a:latin typeface="Arial"/>
                <a:ea typeface="Arial"/>
                <a:cs typeface="Arial"/>
              </a:rPr>
              <a:t>[Как это влияет на вывод]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598D6-15AC-4DFB-A233-2F97AEC0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Что проверяем следующим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91F4A-0447-4FD0-A50F-5232761C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14700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1C25"/>
                </a:solidFill>
                <a:latin typeface="Arial"/>
                <a:ea typeface="Arial"/>
                <a:cs typeface="Arial"/>
              </a:rPr>
              <a:t>[Тест и критерий успеха]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1C25"/>
                </a:solidFill>
                <a:latin typeface="Arial"/>
                <a:ea typeface="Arial"/>
                <a:cs typeface="Arial"/>
              </a:rPr>
              <a:t>[Условие остановки или ручного контроля]</a:t>
            </a:r>
          </a:p>
        </p:txBody>
      </p:sp>
    </p:spTree>
    <p:extLst>
      <p:ext uri="{BB962C8B-B14F-4D97-AF65-F5344CB8AC3E}">
        <p14:creationId xmlns:p14="http://schemas.microsoft.com/office/powerpoint/2010/main" val="10989224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400891-EAE5-48F2-A192-09846DB7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Приложение · ответы на вопросы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8FA75-988A-444F-8F21-77C45579FB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6a2b1246564981">
            <a:extLst>
              <a:ext uri="{96DAC541-7B7A-43D3-8B79-37D633B846F1}">
                <asvg:svgBlip xmlns:asvg="http://schemas.microsoft.com/office/drawing/2016/SVG/main" r:embed="R9447c460e15d4d1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20350" y="361950"/>
            <a:ext cx="1009650" cy="30003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8F0F2-3D50-4282-A103-368B6288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241C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41C25"/>
                </a:solidFill>
                <a:latin typeface="Arial"/>
                <a:ea typeface="Arial"/>
                <a:cs typeface="Arial"/>
              </a:rPr>
              <a:t>Команда и воспроизводимость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F2CB8-A781-429C-A97A-42DCB2AE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436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966F1-41C1-4D82-A244-187C3F3E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A3155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A31551"/>
                </a:solidFill>
                <a:latin typeface="Arial"/>
                <a:ea typeface="Arial"/>
                <a:cs typeface="Arial"/>
              </a:rPr>
              <a:t>[Название команды]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3EBD4-255E-486E-A9DD-928A8377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1C25"/>
                </a:solidFill>
                <a:latin typeface="Arial"/>
                <a:ea typeface="Arial"/>
                <a:cs typeface="Arial"/>
              </a:rPr>
              <a:t>[Имена участников]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9F1EF-D981-4E19-B938-ECC81450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1C2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1C25"/>
                </a:solidFill>
                <a:latin typeface="Arial"/>
                <a:ea typeface="Arial"/>
                <a:cs typeface="Arial"/>
              </a:rPr>
              <a:t>[Репозиторий / архив / инструкция запуска]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9EA87-BE2B-42DF-96E1-89D7E794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726A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26A72"/>
                </a:solidFill>
                <a:latin typeface="Arial"/>
                <a:ea typeface="Arial"/>
                <a:cs typeface="Arial"/>
              </a:rPr>
              <a:t>[Версия решения · идентификатор финального прогона]</a:t>
            </a:r>
          </a:p>
        </p:txBody>
      </p:sp>
    </p:spTree>
    <p:extLst>
      <p:ext uri="{BB962C8B-B14F-4D97-AF65-F5344CB8AC3E}">
        <p14:creationId xmlns:p14="http://schemas.microsoft.com/office/powerpoint/2010/main" val="18089309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2026-10-16T16:03:47.9300000Z</dcterms:created>
  <dcterms:modified xsi:type="dcterms:W3CDTF">2026-10-16T16:03:47.9300000Z</dcterms:modified>
</coreProperties>
</file>