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3469e4815d406e" /><Relationship Type="http://schemas.openxmlformats.org/officeDocument/2006/relationships/extended-properties" Target="/docProps/app.xml" Id="R54d39b88ba5b4d74" /><Relationship Type="http://schemas.openxmlformats.org/officeDocument/2006/relationships/officeDocument" Target="/ppt/presentation.xml" Id="R9a7bc2cab4b041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c307227e3461d"/>
  </p:sldMasterIdLst>
  <p:notesMasterIdLst>
    <p:notesMasterId xmlns:r="http://schemas.openxmlformats.org/officeDocument/2006/relationships" r:id="R992531866da64846"/>
  </p:notesMasterIdLst>
  <p:sldIdLst>
    <p:sldId xmlns:r="http://schemas.openxmlformats.org/officeDocument/2006/relationships" id="256" r:id="Rf9cb55f57e6542ca"/>
    <p:sldId xmlns:r="http://schemas.openxmlformats.org/officeDocument/2006/relationships" id="257" r:id="R2196a32534a4405f"/>
    <p:sldId xmlns:r="http://schemas.openxmlformats.org/officeDocument/2006/relationships" id="258" r:id="R3c468ea6813b4934"/>
    <p:sldId xmlns:r="http://schemas.openxmlformats.org/officeDocument/2006/relationships" id="259" r:id="Ra41a1bd095904e3d"/>
    <p:sldId xmlns:r="http://schemas.openxmlformats.org/officeDocument/2006/relationships" id="260" r:id="R41388ee6111645ed"/>
    <p:sldId xmlns:r="http://schemas.openxmlformats.org/officeDocument/2006/relationships" id="261" r:id="R84be85394e8748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03f8dca4384fa5" /><Relationship Type="http://schemas.openxmlformats.org/officeDocument/2006/relationships/slideMaster" Target="/ppt/slideMasters/slideMaster1.xml" Id="R92ec307227e3461d" /><Relationship Type="http://schemas.openxmlformats.org/officeDocument/2006/relationships/notesMaster" Target="/ppt/notesMasters/notesMaster1.xml" Id="R992531866da64846" /><Relationship Type="http://schemas.openxmlformats.org/officeDocument/2006/relationships/presProps" Target="/ppt/presProps.xml" Id="Rbf8a25434cfa407a" /><Relationship Type="http://schemas.openxmlformats.org/officeDocument/2006/relationships/tableStyles" Target="/ppt/tableStyles.xml" Id="R71726478124a44e2" /><Relationship Type="http://schemas.openxmlformats.org/officeDocument/2006/relationships/slide" Target="/ppt/slides/slide1.xml" Id="Rf9cb55f57e6542ca" /><Relationship Type="http://schemas.openxmlformats.org/officeDocument/2006/relationships/slide" Target="/ppt/slides/slide2.xml" Id="R2196a32534a4405f" /><Relationship Type="http://schemas.openxmlformats.org/officeDocument/2006/relationships/slide" Target="/ppt/slides/slide3.xml" Id="R3c468ea6813b4934" /><Relationship Type="http://schemas.openxmlformats.org/officeDocument/2006/relationships/slide" Target="/ppt/slides/slide4.xml" Id="Ra41a1bd095904e3d" /><Relationship Type="http://schemas.openxmlformats.org/officeDocument/2006/relationships/slide" Target="/ppt/slides/slide5.xml" Id="R41388ee6111645ed" /><Relationship Type="http://schemas.openxmlformats.org/officeDocument/2006/relationships/slide" Target="/ppt/slides/slide6.xml" Id="R84be85394e8748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384ce2f61341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b0ab6a1f774f0c" /><Relationship Type="http://schemas.openxmlformats.org/officeDocument/2006/relationships/notesMaster" Target="/ppt/notesMasters/notesMaster1.xml" Id="R52763928508545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a54143e7274ead" /><Relationship Type="http://schemas.openxmlformats.org/officeDocument/2006/relationships/notesMaster" Target="/ppt/notesMasters/notesMaster1.xml" Id="Ra487ad67399442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d49bd8b4224f97" /><Relationship Type="http://schemas.openxmlformats.org/officeDocument/2006/relationships/notesMaster" Target="/ppt/notesMasters/notesMaster1.xml" Id="R377116d57113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e2f025e15344d1" /><Relationship Type="http://schemas.openxmlformats.org/officeDocument/2006/relationships/notesMaster" Target="/ppt/notesMasters/notesMaster1.xml" Id="Raac422f201ab43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a8302bb24d48b0" /><Relationship Type="http://schemas.openxmlformats.org/officeDocument/2006/relationships/notesMaster" Target="/ppt/notesMasters/notesMaster1.xml" Id="Ra537b0c801c54f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8eb0475bf04f1b" /><Relationship Type="http://schemas.openxmlformats.org/officeDocument/2006/relationships/notesMaster" Target="/ppt/notesMasters/notesMaster1.xml" Id="R3b9d270bd29942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0:00–0:15. Одно предложение: кому помогаем и какое действие улучшаем. Не тратьте время на общий рассказ о банкинге или ИИ. Заполнить название, команду и точную задачу из brief.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0:15–0:35. Только один подтверждённый вывод. Заменить поле нативным графиком или реальным артефактом анализа, сохранить оси, единицы и знаменатель. Большое число должно совпадать с графиком. Не использовать результаты data/synthetic.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0:35–1:00. Один вход, одно действие, результат и объяснение. Выбрать допустимый к показу обезличенный пример. Не ждать обучения. При сбое сразу открыть запись этого же пути. Для синтетического примера явно сказать и подписать, что он учебный.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1:00–1:30. Назвать официальную метрику, правило разбиения, размер holdout и простую точку сравнения. Различать проценты и процентные пункты. Таблица нативная, полностью редактируемая. Результаты и источники заменить фактами из зафиксированного прогона. Столбцы должны оцениваться на одних данных. При отсутствии ML заменить метрики аналитическими критериями из brief.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1:30–1:50. Показать последствие для пользователя: меньше ручных действий, выше полезность при том же лимите или другая цель из brief. Денежный эффект показывать только при известных ценах/объёмах; сценарную оценку назвать сценарием. Если расчёт неуместен, заменить формулу на прямое сравнение. Не объявлять offline-метрику доказанной экономией.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1:50–2:00. Повторить самый сильный доказанный вывод и назвать следующий проверяемый шаг. Дать ссылку на реально доступный артефакт. Не обещать неподтверждённый эффект.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7855d6c0249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0278f60b04f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892aab6124f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e2ac27aee42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34168e79e40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9d1d2a1b940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865D50-4DB5-48B2-AD73-753765DDF5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8273B6-2901-467A-9393-9D9957C137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79482E-A963-4228-BB65-06BB24E19F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03EEAF-E6DF-43B3-8D60-E294ACCF09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B459DB-C050-4F5B-8F0D-6CD84F47E0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CFAB74-5A58-4A5F-8D8E-123F42BE5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C94EB8-BF5E-4AB1-99A8-989067E09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783315-A4C2-4A8E-888F-F89EDC5BE9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9A6B63-A01F-4081-89B9-12321E65A7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3BFDEB-B748-4F45-BB02-1E66706452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0b2ad4767e4b75" /><Relationship Type="http://schemas.openxmlformats.org/officeDocument/2006/relationships/slideLayout" Target="/ppt/slideLayouts/slideLayout1.xml" Id="R75b1b58c1b4d4feb" /><Relationship Type="http://schemas.openxmlformats.org/officeDocument/2006/relationships/slideLayout" Target="/ppt/slideLayouts/slideLayout2.xml" Id="R03d5e23449794131" /><Relationship Type="http://schemas.openxmlformats.org/officeDocument/2006/relationships/slideLayout" Target="/ppt/slideLayouts/slideLayout3.xml" Id="R050919294fbc4098" /><Relationship Type="http://schemas.openxmlformats.org/officeDocument/2006/relationships/slideLayout" Target="/ppt/slideLayouts/slideLayout4.xml" Id="R759fea7e0c724299" /><Relationship Type="http://schemas.openxmlformats.org/officeDocument/2006/relationships/slideLayout" Target="/ppt/slideLayouts/slideLayout5.xml" Id="Rfbd213fce9d04832" /><Relationship Type="http://schemas.openxmlformats.org/officeDocument/2006/relationships/slideLayout" Target="/ppt/slideLayouts/slideLayout6.xml" Id="R3a134d0bf9754d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b1b58c1b4d4feb"/>
    <p:sldLayoutId xmlns:r="http://schemas.openxmlformats.org/officeDocument/2006/relationships" id="2147483650" r:id="R03d5e23449794131"/>
    <p:sldLayoutId xmlns:r="http://schemas.openxmlformats.org/officeDocument/2006/relationships" id="2147483651" r:id="R050919294fbc4098"/>
    <p:sldLayoutId xmlns:r="http://schemas.openxmlformats.org/officeDocument/2006/relationships" id="2147483652" r:id="R759fea7e0c724299"/>
    <p:sldLayoutId xmlns:r="http://schemas.openxmlformats.org/officeDocument/2006/relationships" id="2147483653" r:id="Rfbd213fce9d04832"/>
    <p:sldLayoutId xmlns:r="http://schemas.openxmlformats.org/officeDocument/2006/relationships" id="2147483654" r:id="R3a134d0bf9754d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ca5c5c7c84154" /><Relationship Type="http://schemas.openxmlformats.org/officeDocument/2006/relationships/image" Target="/ppt/media/image.png" Id="Ra014453f198d482a" /><Relationship Type="http://schemas.openxmlformats.org/officeDocument/2006/relationships/image" Target="/ppt/media/image.svg" Id="R24154327cf1f4646" /><Relationship Type="http://schemas.openxmlformats.org/officeDocument/2006/relationships/notesSlide" Target="/ppt/notesSlides/notesSlide1.xml" Id="R3b2a5afd257b49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bf02fe97d84048" /><Relationship Type="http://schemas.openxmlformats.org/officeDocument/2006/relationships/image" Target="/ppt/media/image2.png" Id="Rfb95bd7aeb334c0f" /><Relationship Type="http://schemas.openxmlformats.org/officeDocument/2006/relationships/image" Target="/ppt/media/image2.svg" Id="Rd372ea3bad7f4506" /><Relationship Type="http://schemas.openxmlformats.org/officeDocument/2006/relationships/notesSlide" Target="/ppt/notesSlides/notesSlide2.xml" Id="Rbf9d666222464c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eaaecaabd4182" /><Relationship Type="http://schemas.openxmlformats.org/officeDocument/2006/relationships/image" Target="/ppt/media/image3.png" Id="Rba3a60845d834712" /><Relationship Type="http://schemas.openxmlformats.org/officeDocument/2006/relationships/image" Target="/ppt/media/image3.svg" Id="Rcbd1ec985f2042b0" /><Relationship Type="http://schemas.openxmlformats.org/officeDocument/2006/relationships/notesSlide" Target="/ppt/notesSlides/notesSlide3.xml" Id="R51ffc08d04cd4d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c8b088133473e" /><Relationship Type="http://schemas.openxmlformats.org/officeDocument/2006/relationships/image" Target="/ppt/media/image4.png" Id="Rb635c8fb5e0a4c6c" /><Relationship Type="http://schemas.openxmlformats.org/officeDocument/2006/relationships/image" Target="/ppt/media/image4.svg" Id="R3a41d53a75aa4da9" /><Relationship Type="http://schemas.openxmlformats.org/officeDocument/2006/relationships/notesSlide" Target="/ppt/notesSlides/notesSlide4.xml" Id="R011854cc4ead40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84c9de8b14897" /><Relationship Type="http://schemas.openxmlformats.org/officeDocument/2006/relationships/image" Target="/ppt/media/image5.png" Id="R2c1151805a8d47d6" /><Relationship Type="http://schemas.openxmlformats.org/officeDocument/2006/relationships/image" Target="/ppt/media/image5.svg" Id="R564d587b0ed342d3" /><Relationship Type="http://schemas.openxmlformats.org/officeDocument/2006/relationships/notesSlide" Target="/ppt/notesSlides/notesSlide5.xml" Id="R8c153878ec3b41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1a584f82041d4" /><Relationship Type="http://schemas.openxmlformats.org/officeDocument/2006/relationships/image" Target="/ppt/media/image6.png" Id="Rd6074b015560425c" /><Relationship Type="http://schemas.openxmlformats.org/officeDocument/2006/relationships/image" Target="/ppt/media/image6.svg" Id="R98899d0b011540f6" /><Relationship Type="http://schemas.openxmlformats.org/officeDocument/2006/relationships/notesSlide" Target="/ppt/notesSlides/notesSlide6.xml" Id="Rfc22237fc83547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1CFA2-10B6-4984-9AD8-1629B62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629A2-E2AE-4ADC-A1CD-F6ECD89BC7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4453f198d482a">
            <a:extLst>
              <a:ext uri="{96DAC541-7B7A-43D3-8B79-37D633B846F1}">
                <asvg:svgBlip xmlns:asvg="http://schemas.microsoft.com/office/drawing/2016/SVG/main" r:embed="R24154327cf1f46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03DD9-4828-4EF3-BD77-D7662940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9F49D-293F-4251-B5F8-77CD0FF5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009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[Название</a:t>
            </a:r>
          </a:p>
          <a:p xmlns:a="http://schemas.openxmlformats.org/drawingml/2006/main">
            <a:pPr>
              <a:defRPr sz="57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решения]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D2A14-990C-4DAE-A2AE-A626F58F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[Какое решение принимает пользователь</a:t>
            </a:r>
          </a:p>
          <a:p xmlns:a="http://schemas.openxmlformats.org/drawingml/2006/main">
            <a:pPr>
              <a:defRPr sz="25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с нашей помощью]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58196-A5AE-42F1-97A9-962F7F1F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[Команда] · 17–18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87270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3B0DC-7D49-48BD-89CE-14022D7E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1E10D-43A1-4B89-AA29-6EF1E530CF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5bd7aeb334c0f">
            <a:extLst>
              <a:ext uri="{96DAC541-7B7A-43D3-8B79-37D633B846F1}">
                <asvg:svgBlip xmlns:asvg="http://schemas.microsoft.com/office/drawing/2016/SVG/main" r:embed="Rd372ea3bad7f45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EF8DA-185C-46EC-925A-51BFBD8F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[Главная находка]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C1E16-551C-41CC-937B-896554E2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A6B01-1781-4898-9928-B76FF5B0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390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[Значение]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F4539-1E0B-4BBD-A0B1-F69BC162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[Метрика, единицы</a:t>
            </a:r>
          </a:p>
          <a:p xmlns:a="http://schemas.openxmlformats.org/drawingml/2006/main">
            <a:pPr>
              <a:defRPr sz="210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и база сравнения]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94ADD-07EE-40DE-8BB1-A5EA3064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33650"/>
            <a:ext cx="63246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F6"/>
          </a:solidFill>
          <a:ln xmlns:a="http://schemas.openxmlformats.org/drawingml/2006/main" w="9525">
            <a:solidFill>
              <a:srgbClr val="E4DCE1"/>
            </a:solidFill>
          </a:ln>
        </p:spPr>
        <p:txBody>
          <a:bodyPr xmlns:a="http://schemas.openxmlformats.org/drawingml/2006/main" lIns="228600" tIns="228600" rIns="228600" bIns="2286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26A72"/>
                </a:solidFill>
                <a:latin typeface="Arial"/>
                <a:ea typeface="Arial"/>
                <a:cs typeface="Arial"/>
              </a:rPr>
              <a:t>[График из анализа]</a:t>
            </a:r>
          </a:p>
          <a:p xmlns:a="http://schemas.openxmlformats.org/drawingml/2006/main">
            <a: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26A72"/>
                </a:solidFill>
                <a:latin typeface="Arial"/>
                <a:ea typeface="Arial"/>
                <a:cs typeface="Arial"/>
              </a:rPr>
              <a:t>[оси · единицы · период · n]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1581A-1CC3-47B5-9D8B-B8062793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[Источник / фильтр / размер выборки]</a:t>
            </a:r>
          </a:p>
        </p:txBody>
      </p:sp>
    </p:spTree>
    <p:extLst>
      <p:ext uri="{BB962C8B-B14F-4D97-AF65-F5344CB8AC3E}">
        <p14:creationId xmlns:p14="http://schemas.microsoft.com/office/powerpoint/2010/main" val="202949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BFFF6-7F95-4711-A79B-6CFFABFD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0B6AB-D3D2-4652-8D91-C445E24D8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a60845d834712">
            <a:extLst>
              <a:ext uri="{96DAC541-7B7A-43D3-8B79-37D633B846F1}">
                <asvg:svgBlip xmlns:asvg="http://schemas.microsoft.com/office/drawing/2016/SVG/main" r:embed="Rcbd1ec985f2042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17F87-0AED-439D-A068-03E73B09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Работающий 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137DF-11B0-4FF9-93D3-4A5C7964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F246B-3819-4BAF-8F16-216793B6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7048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F6"/>
          </a:solidFill>
          <a:ln xmlns:a="http://schemas.openxmlformats.org/drawingml/2006/main" w="9525">
            <a:solidFill>
              <a:srgbClr val="E4DCE1"/>
            </a:solidFill>
          </a:ln>
        </p:spPr>
        <p:txBody>
          <a:bodyPr xmlns:a="http://schemas.openxmlformats.org/drawingml/2006/main" lIns="228600" tIns="228600" rIns="228600" bIns="2286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26A72"/>
                </a:solidFill>
                <a:latin typeface="Arial"/>
                <a:ea typeface="Arial"/>
                <a:cs typeface="Arial"/>
              </a:rPr>
              <a:t>[Скриншот одного рабочего сценария]</a:t>
            </a:r>
          </a:p>
          <a:p xmlns:a="http://schemas.openxmlformats.org/drawingml/2006/main">
            <a: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26A72"/>
                </a:solidFill>
                <a:latin typeface="Arial"/>
                <a:ea typeface="Arial"/>
                <a:cs typeface="Arial"/>
              </a:rPr>
              <a:t>[или переход к локальному демо]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94719-4C5E-46FE-BB2C-5AFF3BBA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693E2-3A1E-4C7E-8BE3-9C77F1C4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[Что подаёт пользователь]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8E16B-EF5D-45C1-9E7F-53CFB54D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3E537-DF79-4596-8A0C-17CFEA49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2895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[Что он получает</a:t>
            </a:r>
          </a:p>
          <a:p xmlns:a="http://schemas.openxmlformats.org/drawingml/2006/main">
            <a:pPr>
              <a:defRPr sz="19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и что делает дальше]</a:t>
            </a:r>
          </a:p>
        </p:txBody>
      </p:sp>
    </p:spTree>
    <p:extLst>
      <p:ext uri="{BB962C8B-B14F-4D97-AF65-F5344CB8AC3E}">
        <p14:creationId xmlns:p14="http://schemas.microsoft.com/office/powerpoint/2010/main" val="2094624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C7E9E-EA9A-4271-8C3C-CE5AC9A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3E479-1FDC-48E4-8E43-27E1E05182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5c8fb5e0a4c6c">
            <a:extLst>
              <a:ext uri="{96DAC541-7B7A-43D3-8B79-37D633B846F1}">
                <asvg:svgBlip xmlns:asvg="http://schemas.microsoft.com/office/drawing/2016/SVG/main" r:embed="R3a41d53a75aa4d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B5582-8F4D-4EE8-A04A-BD5AE727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Проверка качества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B0884-F2AC-467A-8AC4-6344C275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0EA66-3A90-4596-A26E-505886090AF1}"/>
              </a:ext>
            </a:extLst>
          </p:cNvPr>
          <p:cNvGraphicFramePr/>
          <p:nvPr/>
        </p:nvGraphicFramePr>
        <p:xfrm>
          <a:off xmlns:a="http://schemas.openxmlformats.org/drawingml/2006/main" x="762000" y="2514600"/>
          <a:ext xmlns:a="http://schemas.openxmlformats.org/drawingml/2006/main" cx="106680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2762250"/>
                <a:gridCol w="3238500"/>
              </a:tblGrid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Метрика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Наше решение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</a:tr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[Основная · единицы]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[Контрольная метрика]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[Время / цена ошибки]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27981-F213-484E-87BE-3F4773E2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[Split · период · n]   [Порог выбран на validation]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D8AE9-CD3A-4223-B60C-98BFF8AA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[Существенное ограничение проверки]</a:t>
            </a:r>
          </a:p>
        </p:txBody>
      </p:sp>
    </p:spTree>
    <p:extLst>
      <p:ext uri="{BB962C8B-B14F-4D97-AF65-F5344CB8AC3E}">
        <p14:creationId xmlns:p14="http://schemas.microsoft.com/office/powerpoint/2010/main" val="946331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552E0-5C79-4AB1-AB94-7E2B2D50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7B403-1EC5-4CF4-8BE2-67EF120BD2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151805a8d47d6">
            <a:extLst>
              <a:ext uri="{96DAC541-7B7A-43D3-8B79-37D633B846F1}">
                <asvg:svgBlip xmlns:asvg="http://schemas.microsoft.com/office/drawing/2016/SVG/main" r:embed="R564d587b0ed342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04690-66B9-4723-9AFE-B63F4F0A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Польза для [пользователя]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47A46-8322-4D47-854E-0648A59E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3310B-EA0F-482D-AA33-189DD763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[Практический результат]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CD6EA-16C0-47E2-86A4-215530CA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[Действие]  ×  [объём]  ×  [эффект на случай]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A8E1B-58E2-4B17-8D45-0406D388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[Измерено в эксперименте: …]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12511-11E8-49CB-AA0E-1774A0B3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[Допущения для пилота: …]</a:t>
            </a:r>
          </a:p>
        </p:txBody>
      </p:sp>
    </p:spTree>
    <p:extLst>
      <p:ext uri="{BB962C8B-B14F-4D97-AF65-F5344CB8AC3E}">
        <p14:creationId xmlns:p14="http://schemas.microsoft.com/office/powerpoint/2010/main" val="534513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0C1D9-323A-4765-9E49-B7B7B00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44E26-8568-4C29-8A24-C405D24FC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74b015560425c">
            <a:extLst>
              <a:ext uri="{96DAC541-7B7A-43D3-8B79-37D633B846F1}">
                <asvg:svgBlip xmlns:asvg="http://schemas.microsoft.com/office/drawing/2016/SVG/main" r:embed="R98899d0b011540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26612-7422-43A6-8F85-7FE2AD3C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2119E-7932-4365-A148-0B345F4E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[Один вывод,</a:t>
            </a:r>
          </a:p>
          <a:p xmlns:a="http://schemas.openxmlformats.org/drawingml/2006/main">
            <a:pPr>
              <a:defRPr sz="49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который запомнят]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7B9FB-7C87-4AC1-AD40-1E40F130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BF290-9F84-4418-83D4-B6EED04B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[Что проверим в пилоте и по какому критерию]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588AA-3529-4E3B-8F10-8EB9DA3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02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[Команда · имена · ссылка на решение]</a:t>
            </a:r>
          </a:p>
        </p:txBody>
      </p:sp>
    </p:spTree>
    <p:extLst>
      <p:ext uri="{BB962C8B-B14F-4D97-AF65-F5344CB8AC3E}">
        <p14:creationId xmlns:p14="http://schemas.microsoft.com/office/powerpoint/2010/main" val="1312980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2026-10-16T16:03:43.6810000Z</dcterms:created>
  <dcterms:modified xsi:type="dcterms:W3CDTF">2026-10-16T16:03:43.6810000Z</dcterms:modified>
</coreProperties>
</file>